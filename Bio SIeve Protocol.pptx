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03CAA-E587-40F0-A004-C661441F0B74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7A11D-A256-4D24-97A8-566160BDBA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854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7A11D-A256-4D24-97A8-566160BDBAD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049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A6669-80FD-09AF-4F54-0E4B54BFA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FC6B3-2C1E-8188-70D3-A1DF14CF2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D86FE-6F61-77B0-F0C1-DB914CF8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27D6B-C286-B743-7A67-66D615D9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7A7D2-3537-D2F1-A71D-91BD84CE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643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9A7F-D6BC-A6F4-523A-7554A72E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60E2-B780-D4C1-9985-034B4B7D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0C057-36AD-AFA0-15FC-5ED0D407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09E38-02F8-53A7-0C44-50B683351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B9E34-196E-288C-B851-DB5EBD56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40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CAC2D-5125-B1E6-8A7F-8A3BAB89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7DEA1-F71D-894D-EFE8-E3C0DAEC5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B2978-4AC6-7AE0-8C46-C53361F6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1DB4D-4B45-D638-FF0C-394AAB33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C851F-8ECB-E97D-579B-FF5F89A0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84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24A4-704A-AC71-972C-189ABEE9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23F10-04F7-B9F5-7E2E-310AEECAA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070A0-DF7F-863E-DD7C-0D0BC8550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25A49-87D7-2DB6-4A97-E5E51293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6F502-090D-5365-291D-985637E3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3A3D7-3E67-AF75-C7CD-AFF29271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25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59B8-8A6E-86B9-0282-34473ADE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2221F-EEEF-D5D3-A075-F42330853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72E82-1B21-3DAD-F684-E0B9FDF30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189FE-6351-2177-FB2C-79309F2C8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155E4-E2C5-1F48-F83E-6B4C10847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B86972-8ECB-B3EE-678A-96789597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26E82B-1727-A1E1-305A-D3858F7B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63736-0566-BB73-0FA7-F5A2510E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10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3D1B2-4A9A-1457-5551-5003E61D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12279A-657D-8307-CF4C-24C48366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89F1B-4987-C5AB-865B-20A211EC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3B593-D81E-876E-0158-EF3C7F83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85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EA3B0-6899-D19F-4637-0ED80515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D3029-D928-C8DF-1147-332D07BA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5ED36-A11D-86C3-7533-07961CF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13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498E-F915-A887-1D76-5DB60815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2E47B-972F-CDE4-E28A-59FB32AD3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B238D-BA42-D3CD-CCF6-29A047FE4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C2F7B-F53B-E774-0132-8ED64821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B3DD5-82CA-0608-7CDE-06476991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7A1B1-9907-9A9E-F648-24F5ACFE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1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4BA6-F2AA-2CB7-94B9-ACE96B1D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40327-985D-61F3-2A23-488A3F30729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E2AB2-3F2C-02F0-FBB8-04B9556E7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23B9C-6837-C601-93A3-0EE9ADE2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D1944-33A8-42E1-20F8-728190159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B64D8-0F89-0D98-0866-FF5D32C6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74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5663-03D4-7E67-E5AD-030FEBAD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BAC2F-7BF9-CD38-8480-85FF8BFC7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9D299-CA59-7445-3C1E-657EBAEB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70181-B0B0-26D2-049B-424F59CB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6A415-2B92-E963-E2DD-B99647C7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1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62F3C-AC6C-C424-AE0A-08E33CF0A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CD75F-CDF5-41E4-B153-B0968AFE9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223B3-59AB-ABD3-3E62-7ACB1983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CC075-DB72-6368-81AF-1E2E678A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936C2-AE99-60E1-5324-A72928FF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3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36E54-8D5C-2CD5-A669-D2392D97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EAF0F-2A58-A496-82D0-62ECAE760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638D2-A1EB-E476-4E88-9931E33EE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F19F4-8271-4DBC-BA2D-8B0D1F2393D1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8E0FF-43F1-74ED-8921-69D9F6FA0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945D1-C413-FE15-D71B-99634CCD4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95BDC-3C8A-4E34-96F1-097979EC0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78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2108D-3D40-820F-0A29-F3D7D7DC42EE}"/>
              </a:ext>
            </a:extLst>
          </p:cNvPr>
          <p:cNvSpPr txBox="1"/>
          <p:nvPr/>
        </p:nvSpPr>
        <p:spPr>
          <a:xfrm>
            <a:off x="937312" y="147484"/>
            <a:ext cx="1053275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DECENTRALIZED AIR-GAPPED BIO-SIEVE PROTOCOL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BD4E3-FA2A-A8E8-C2FD-4267CD18AC84}"/>
              </a:ext>
            </a:extLst>
          </p:cNvPr>
          <p:cNvSpPr txBox="1"/>
          <p:nvPr/>
        </p:nvSpPr>
        <p:spPr>
          <a:xfrm>
            <a:off x="2012093" y="778426"/>
            <a:ext cx="81678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latin typeface="Sans Serif "/>
              </a:rPr>
              <a:t>Secure Multi-Layer Security Compliance Without Cloud Data Exposure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05897-0B8E-6049-278B-156B6F0F4A3E}"/>
              </a:ext>
            </a:extLst>
          </p:cNvPr>
          <p:cNvSpPr txBox="1"/>
          <p:nvPr/>
        </p:nvSpPr>
        <p:spPr>
          <a:xfrm>
            <a:off x="1135947" y="1632155"/>
            <a:ext cx="46958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Sans Serif "/>
              </a:rPr>
              <a:t>[TOPOLOGY: 100% AIR-GAPPED] </a:t>
            </a:r>
          </a:p>
          <a:p>
            <a:pPr algn="ctr"/>
            <a:endParaRPr lang="en-IN" b="1" dirty="0">
              <a:latin typeface="Sans Serif "/>
            </a:endParaRPr>
          </a:p>
          <a:p>
            <a:pPr algn="ctr"/>
            <a:r>
              <a:rPr lang="en-IN" b="1" dirty="0">
                <a:latin typeface="Sans Serif "/>
              </a:rPr>
              <a:t>[PRIVACY MODEL: ZERO-KNOWLEDGE PROOFS]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C0196-639F-9D8F-F053-93381290D8E1}"/>
              </a:ext>
            </a:extLst>
          </p:cNvPr>
          <p:cNvSpPr/>
          <p:nvPr/>
        </p:nvSpPr>
        <p:spPr>
          <a:xfrm>
            <a:off x="937312" y="1533832"/>
            <a:ext cx="5093110" cy="1199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4573A-526D-DF5B-3C50-EE537A09CD68}"/>
              </a:ext>
            </a:extLst>
          </p:cNvPr>
          <p:cNvSpPr txBox="1"/>
          <p:nvPr/>
        </p:nvSpPr>
        <p:spPr>
          <a:xfrm>
            <a:off x="6705600" y="1615936"/>
            <a:ext cx="50931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latin typeface="Sans Serif "/>
              </a:rPr>
              <a:t>A local-first, hardware-enclosed software firewall sitting between design workstations and desktop synthesizers to enforce global safety standards while keeping private intellectual property completely secure.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8AC91-9AE3-25C9-F0CC-62915A2CED30}"/>
              </a:ext>
            </a:extLst>
          </p:cNvPr>
          <p:cNvSpPr txBox="1"/>
          <p:nvPr/>
        </p:nvSpPr>
        <p:spPr>
          <a:xfrm>
            <a:off x="760331" y="3429518"/>
            <a:ext cx="8085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ans Serif "/>
              </a:rPr>
              <a:t>NETWORK EXPOSURE: 0.00% </a:t>
            </a:r>
          </a:p>
          <a:p>
            <a:r>
              <a:rPr lang="en-IN" dirty="0">
                <a:latin typeface="Sans Serif "/>
              </a:rPr>
              <a:t>Completely local; zero external cloud API keys or internet handshakes.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66C736-B660-4982-A1D9-B8F2E363AF98}"/>
              </a:ext>
            </a:extLst>
          </p:cNvPr>
          <p:cNvCxnSpPr>
            <a:stCxn id="6" idx="3"/>
          </p:cNvCxnSpPr>
          <p:nvPr/>
        </p:nvCxnSpPr>
        <p:spPr>
          <a:xfrm flipV="1">
            <a:off x="6030422" y="2123768"/>
            <a:ext cx="675178" cy="9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77C52E-2F9E-0F82-8614-55D28490F4CA}"/>
              </a:ext>
            </a:extLst>
          </p:cNvPr>
          <p:cNvSpPr txBox="1"/>
          <p:nvPr/>
        </p:nvSpPr>
        <p:spPr>
          <a:xfrm>
            <a:off x="760330" y="4472868"/>
            <a:ext cx="8305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Sans Serif "/>
              </a:rPr>
              <a:t>TOTAL PIPELINE LATENCY: &lt; 0.40 </a:t>
            </a:r>
            <a:r>
              <a:rPr lang="en-IN" b="1" dirty="0" err="1">
                <a:latin typeface="Sans Serif "/>
              </a:rPr>
              <a:t>ms</a:t>
            </a:r>
            <a:r>
              <a:rPr lang="en-IN" b="1" dirty="0">
                <a:latin typeface="Sans Serif "/>
              </a:rPr>
              <a:t> </a:t>
            </a:r>
          </a:p>
          <a:p>
            <a:r>
              <a:rPr lang="en-IN" dirty="0">
                <a:latin typeface="Sans Serif "/>
              </a:rPr>
              <a:t>Strict O(N) linear-time execution via optimized text automata).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AC6C9-2214-BE90-35DC-48EEFC2A8EE2}"/>
              </a:ext>
            </a:extLst>
          </p:cNvPr>
          <p:cNvSpPr txBox="1"/>
          <p:nvPr/>
        </p:nvSpPr>
        <p:spPr>
          <a:xfrm>
            <a:off x="760329" y="5495253"/>
            <a:ext cx="6830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latin typeface="Sans Serif "/>
              </a:rPr>
              <a:t>COMPLIANCE ASSURANCE: 100% </a:t>
            </a:r>
          </a:p>
          <a:p>
            <a:pPr lvl="0"/>
            <a:r>
              <a:rPr lang="en-IN" dirty="0">
                <a:latin typeface="Sans Serif "/>
              </a:rPr>
              <a:t>Cryptographic </a:t>
            </a:r>
            <a:r>
              <a:rPr lang="en-IN" dirty="0" err="1">
                <a:latin typeface="Sans Serif "/>
              </a:rPr>
              <a:t>zk</a:t>
            </a:r>
            <a:r>
              <a:rPr lang="en-IN" dirty="0">
                <a:latin typeface="Sans Serif "/>
              </a:rPr>
              <a:t>-SNARK token validation ensures absolute data protection.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BA4507-D71C-18A3-D9B3-A54E83081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1" r="9643"/>
          <a:stretch>
            <a:fillRect/>
          </a:stretch>
        </p:blipFill>
        <p:spPr>
          <a:xfrm>
            <a:off x="7672880" y="3395271"/>
            <a:ext cx="4159045" cy="2801523"/>
          </a:xfrm>
          <a:prstGeom prst="rect">
            <a:avLst/>
          </a:prstGeom>
        </p:spPr>
      </p:pic>
      <p:sp>
        <p:nvSpPr>
          <p:cNvPr id="30" name="object 66">
            <a:extLst>
              <a:ext uri="{FF2B5EF4-FFF2-40B4-BE49-F238E27FC236}">
                <a16:creationId xmlns:a16="http://schemas.microsoft.com/office/drawing/2014/main" id="{C6730334-527E-4B5A-8738-19143676D4C7}"/>
              </a:ext>
            </a:extLst>
          </p:cNvPr>
          <p:cNvSpPr/>
          <p:nvPr/>
        </p:nvSpPr>
        <p:spPr>
          <a:xfrm>
            <a:off x="152400" y="3615578"/>
            <a:ext cx="524356" cy="263134"/>
          </a:xfrm>
          <a:custGeom>
            <a:avLst/>
            <a:gdLst/>
            <a:ahLst/>
            <a:cxnLst/>
            <a:rect l="l" t="t" r="r" b="b"/>
            <a:pathLst>
              <a:path w="923925" h="503555">
                <a:moveTo>
                  <a:pt x="672337" y="0"/>
                </a:moveTo>
                <a:lnTo>
                  <a:pt x="672337" y="125856"/>
                </a:lnTo>
                <a:lnTo>
                  <a:pt x="0" y="125856"/>
                </a:lnTo>
                <a:lnTo>
                  <a:pt x="0" y="377443"/>
                </a:lnTo>
                <a:lnTo>
                  <a:pt x="672337" y="377443"/>
                </a:lnTo>
                <a:lnTo>
                  <a:pt x="672337" y="503300"/>
                </a:lnTo>
                <a:lnTo>
                  <a:pt x="923925" y="251587"/>
                </a:lnTo>
                <a:lnTo>
                  <a:pt x="67233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66">
            <a:extLst>
              <a:ext uri="{FF2B5EF4-FFF2-40B4-BE49-F238E27FC236}">
                <a16:creationId xmlns:a16="http://schemas.microsoft.com/office/drawing/2014/main" id="{BDA6815D-69A0-6ED9-AA7C-FD75EBDEA049}"/>
              </a:ext>
            </a:extLst>
          </p:cNvPr>
          <p:cNvSpPr/>
          <p:nvPr/>
        </p:nvSpPr>
        <p:spPr>
          <a:xfrm>
            <a:off x="152399" y="5816440"/>
            <a:ext cx="524356" cy="263134"/>
          </a:xfrm>
          <a:custGeom>
            <a:avLst/>
            <a:gdLst/>
            <a:ahLst/>
            <a:cxnLst/>
            <a:rect l="l" t="t" r="r" b="b"/>
            <a:pathLst>
              <a:path w="923925" h="503555">
                <a:moveTo>
                  <a:pt x="672337" y="0"/>
                </a:moveTo>
                <a:lnTo>
                  <a:pt x="672337" y="125856"/>
                </a:lnTo>
                <a:lnTo>
                  <a:pt x="0" y="125856"/>
                </a:lnTo>
                <a:lnTo>
                  <a:pt x="0" y="377443"/>
                </a:lnTo>
                <a:lnTo>
                  <a:pt x="672337" y="377443"/>
                </a:lnTo>
                <a:lnTo>
                  <a:pt x="672337" y="503300"/>
                </a:lnTo>
                <a:lnTo>
                  <a:pt x="923925" y="251587"/>
                </a:lnTo>
                <a:lnTo>
                  <a:pt x="67233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66">
            <a:extLst>
              <a:ext uri="{FF2B5EF4-FFF2-40B4-BE49-F238E27FC236}">
                <a16:creationId xmlns:a16="http://schemas.microsoft.com/office/drawing/2014/main" id="{AED6C6BE-875E-246B-4DF3-BB61CF4DDFBA}"/>
              </a:ext>
            </a:extLst>
          </p:cNvPr>
          <p:cNvSpPr/>
          <p:nvPr/>
        </p:nvSpPr>
        <p:spPr>
          <a:xfrm>
            <a:off x="152400" y="4664466"/>
            <a:ext cx="524356" cy="263134"/>
          </a:xfrm>
          <a:custGeom>
            <a:avLst/>
            <a:gdLst/>
            <a:ahLst/>
            <a:cxnLst/>
            <a:rect l="l" t="t" r="r" b="b"/>
            <a:pathLst>
              <a:path w="923925" h="503555">
                <a:moveTo>
                  <a:pt x="672337" y="0"/>
                </a:moveTo>
                <a:lnTo>
                  <a:pt x="672337" y="125856"/>
                </a:lnTo>
                <a:lnTo>
                  <a:pt x="0" y="125856"/>
                </a:lnTo>
                <a:lnTo>
                  <a:pt x="0" y="377443"/>
                </a:lnTo>
                <a:lnTo>
                  <a:pt x="672337" y="377443"/>
                </a:lnTo>
                <a:lnTo>
                  <a:pt x="672337" y="503300"/>
                </a:lnTo>
                <a:lnTo>
                  <a:pt x="923925" y="251587"/>
                </a:lnTo>
                <a:lnTo>
                  <a:pt x="67233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32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64D09D-018C-27AC-9C27-B5D8630B8974}"/>
              </a:ext>
            </a:extLst>
          </p:cNvPr>
          <p:cNvSpPr txBox="1"/>
          <p:nvPr/>
        </p:nvSpPr>
        <p:spPr>
          <a:xfrm>
            <a:off x="697759" y="169779"/>
            <a:ext cx="1079648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DECOUPLING DATA ACCESS FROM BIOMEDICAL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B0215-EF0F-59B9-F187-EEBED126336E}"/>
              </a:ext>
            </a:extLst>
          </p:cNvPr>
          <p:cNvSpPr txBox="1"/>
          <p:nvPr/>
        </p:nvSpPr>
        <p:spPr>
          <a:xfrm>
            <a:off x="1897318" y="800721"/>
            <a:ext cx="83973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latin typeface="Sans Serif "/>
              </a:rPr>
              <a:t>The Architectural Paradigm Shift to Zero-Outbound Security Compliance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50630-9D25-1ADF-6351-0BF9D162568D}"/>
              </a:ext>
            </a:extLst>
          </p:cNvPr>
          <p:cNvSpPr txBox="1"/>
          <p:nvPr/>
        </p:nvSpPr>
        <p:spPr>
          <a:xfrm>
            <a:off x="809704" y="1514790"/>
            <a:ext cx="1057258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dirty="0">
                <a:latin typeface="Sans Serif "/>
              </a:rPr>
              <a:t>Traditional biosecurity frameworks rely on cloud-connected API models, creating an immediate data leak vector for sensitive, pre-patent molecular designs.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dirty="0">
                <a:latin typeface="Sans Serif "/>
              </a:rPr>
              <a:t>Project BIO-SIEVE eliminates this exposure entirely. It maps sequence evaluations into four modular, hardware-enclosed processing steps, ensuring that calculations take place strictly locally in volatile RAM enclaves.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E8AB4-4E35-16AA-3C6E-F5C0ECF4BA58}"/>
              </a:ext>
            </a:extLst>
          </p:cNvPr>
          <p:cNvSpPr txBox="1"/>
          <p:nvPr/>
        </p:nvSpPr>
        <p:spPr>
          <a:xfrm>
            <a:off x="697759" y="3133669"/>
            <a:ext cx="36989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>
                <a:latin typeface="Sans Serif "/>
              </a:rPr>
              <a:t>Dynamic Subsystem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37A28-330C-D049-1AF2-47C9A4605E9A}"/>
              </a:ext>
            </a:extLst>
          </p:cNvPr>
          <p:cNvSpPr txBox="1"/>
          <p:nvPr/>
        </p:nvSpPr>
        <p:spPr>
          <a:xfrm>
            <a:off x="809704" y="3658133"/>
            <a:ext cx="7641569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High-Speed Exact Match Filtering: </a:t>
            </a:r>
            <a:r>
              <a:rPr lang="en-IN" sz="1500" dirty="0">
                <a:latin typeface="Sans Serif "/>
              </a:rPr>
              <a:t>Intercepts known reference threat strings in linear time complexity using local pattern lookups, achieving sub-millisecond execution latency.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Fuzzy Semantic Sequence Matching: </a:t>
            </a:r>
            <a:r>
              <a:rPr lang="en-IN" sz="1500" dirty="0">
                <a:latin typeface="Sans Serif "/>
              </a:rPr>
              <a:t>Windows strings into overlapping k-</a:t>
            </a:r>
            <a:r>
              <a:rPr lang="en-IN" sz="1500" dirty="0" err="1">
                <a:latin typeface="Sans Serif "/>
              </a:rPr>
              <a:t>mer</a:t>
            </a:r>
            <a:r>
              <a:rPr lang="en-IN" sz="1500" dirty="0">
                <a:latin typeface="Sans Serif "/>
              </a:rPr>
              <a:t> token variables to identify structural similarity metrics, blocking sequences designed to evade text lookups.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Hardware Enclosure &amp; Zero-Knowledge Verification: </a:t>
            </a:r>
            <a:r>
              <a:rPr lang="en-IN" sz="1500" dirty="0">
                <a:latin typeface="Sans Serif "/>
              </a:rPr>
              <a:t>Simulates silicon-level memory locks (Intel SGX/AMD SEV) to partition screening datasets, outputting clean verification tokens.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b="1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Homomorphic Updates &amp; Ephemeral Honey-Nets: </a:t>
            </a:r>
            <a:r>
              <a:rPr lang="en-IN" sz="1500" dirty="0">
                <a:latin typeface="Sans Serif "/>
              </a:rPr>
              <a:t>Ingests radio/satellite weight updates blinds using fully homomorphic operations, while deploying dummy print file redirection routines to catch adversarial model fuzzing.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EDF08-6C48-CE5E-6078-84D78B35FE01}"/>
              </a:ext>
            </a:extLst>
          </p:cNvPr>
          <p:cNvSpPr txBox="1"/>
          <p:nvPr/>
        </p:nvSpPr>
        <p:spPr>
          <a:xfrm>
            <a:off x="8756358" y="3898278"/>
            <a:ext cx="343564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Sans Serif "/>
              </a:rPr>
              <a:t>COMPILER INTERLOCKS: DYNAMIC</a:t>
            </a:r>
          </a:p>
          <a:p>
            <a:r>
              <a:rPr lang="en-IN" sz="1300" dirty="0">
                <a:latin typeface="Sans Serif "/>
              </a:rPr>
              <a:t>Hardware relays trip instantly to TRIPPED if validation gates fail.</a:t>
            </a:r>
          </a:p>
          <a:p>
            <a:endParaRPr lang="en-IN" sz="1500" dirty="0">
              <a:latin typeface="Sans Serif "/>
            </a:endParaRPr>
          </a:p>
          <a:p>
            <a:r>
              <a:rPr lang="en-IN" sz="1500" b="1" dirty="0">
                <a:latin typeface="Sans Serif "/>
              </a:rPr>
              <a:t>DATA RECOVERY TRUST: REAL-TIME</a:t>
            </a:r>
          </a:p>
          <a:p>
            <a:r>
              <a:rPr lang="en-IN" sz="1300" dirty="0">
                <a:latin typeface="Sans Serif "/>
              </a:rPr>
              <a:t>Reconstructs structural arrays via live windowing.</a:t>
            </a:r>
          </a:p>
          <a:p>
            <a:endParaRPr lang="en-IN" sz="1500" dirty="0">
              <a:latin typeface="Sans Serif "/>
            </a:endParaRPr>
          </a:p>
          <a:p>
            <a:r>
              <a:rPr lang="en-IN" sz="1500" b="1" dirty="0">
                <a:latin typeface="Sans Serif "/>
              </a:rPr>
              <a:t>EXTERNAL FILE SPOOLING: ZERO</a:t>
            </a:r>
          </a:p>
          <a:p>
            <a:pPr lvl="0"/>
            <a:r>
              <a:rPr lang="en-IN" sz="1300" dirty="0">
                <a:latin typeface="Sans Serif "/>
              </a:rPr>
              <a:t>Writes only safe, inert .</a:t>
            </a:r>
            <a:r>
              <a:rPr lang="en-IN" sz="1300" dirty="0" err="1">
                <a:latin typeface="Sans Serif "/>
              </a:rPr>
              <a:t>gcode</a:t>
            </a:r>
            <a:r>
              <a:rPr lang="en-IN" sz="1300" dirty="0">
                <a:latin typeface="Sans Serif "/>
              </a:rPr>
              <a:t> tracking placeholders to disk.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AF6B54-4D4A-DADB-5A15-8CAABD13F9F2}"/>
              </a:ext>
            </a:extLst>
          </p:cNvPr>
          <p:cNvSpPr/>
          <p:nvPr/>
        </p:nvSpPr>
        <p:spPr>
          <a:xfrm>
            <a:off x="8631203" y="3815213"/>
            <a:ext cx="3283706" cy="2687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0BAD7B-90DA-8CFD-C465-646B7FA17B97}"/>
              </a:ext>
            </a:extLst>
          </p:cNvPr>
          <p:cNvCxnSpPr/>
          <p:nvPr/>
        </p:nvCxnSpPr>
        <p:spPr>
          <a:xfrm>
            <a:off x="0" y="2946400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897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214C18-C6DC-241F-376D-7831D1FBA074}"/>
              </a:ext>
            </a:extLst>
          </p:cNvPr>
          <p:cNvSpPr txBox="1"/>
          <p:nvPr/>
        </p:nvSpPr>
        <p:spPr>
          <a:xfrm>
            <a:off x="200796" y="208056"/>
            <a:ext cx="1179040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LOCAL FILE REPOSITORY &amp; CORE STRATEGIC ANALYSIS ENGINE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0855B-122B-BC31-B026-18D80EE0D156}"/>
              </a:ext>
            </a:extLst>
          </p:cNvPr>
          <p:cNvSpPr txBox="1"/>
          <p:nvPr/>
        </p:nvSpPr>
        <p:spPr>
          <a:xfrm>
            <a:off x="2072590" y="838998"/>
            <a:ext cx="80468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latin typeface="Sans Serif "/>
              </a:rPr>
              <a:t>Pure Standard Library Framework with Zero Cloud/API Dependencies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C0F06-5C0B-BFF8-0065-D57805405A34}"/>
              </a:ext>
            </a:extLst>
          </p:cNvPr>
          <p:cNvSpPr txBox="1"/>
          <p:nvPr/>
        </p:nvSpPr>
        <p:spPr>
          <a:xfrm>
            <a:off x="200796" y="2045738"/>
            <a:ext cx="40479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u="sng" dirty="0">
                <a:latin typeface="Sans Serif "/>
              </a:rPr>
              <a:t>Unified Multi-File Code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C8CDE9-7F9E-4B90-4B94-461792D8E0AB}"/>
              </a:ext>
            </a:extLst>
          </p:cNvPr>
          <p:cNvSpPr txBox="1"/>
          <p:nvPr/>
        </p:nvSpPr>
        <p:spPr>
          <a:xfrm>
            <a:off x="526473" y="2576945"/>
            <a:ext cx="556952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fragment_affinity.py </a:t>
            </a:r>
            <a:r>
              <a:rPr lang="en-IN" dirty="0">
                <a:latin typeface="Sans Serif "/>
              </a:rPr>
              <a:t>— High-speed string parsing, complexity </a:t>
            </a:r>
            <a:r>
              <a:rPr lang="en-IN" dirty="0" err="1">
                <a:latin typeface="Sans Serif "/>
              </a:rPr>
              <a:t>analyzer</a:t>
            </a:r>
            <a:r>
              <a:rPr lang="en-IN" dirty="0">
                <a:latin typeface="Sans Serif "/>
              </a:rPr>
              <a:t>, and matrix math engine.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thermal_interlock.py </a:t>
            </a:r>
            <a:r>
              <a:rPr lang="en-IN" dirty="0">
                <a:latin typeface="Sans Serif "/>
              </a:rPr>
              <a:t>— Real-time fluid mechanics simulator and threshold interlock state array.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validation_engine.py </a:t>
            </a:r>
            <a:r>
              <a:rPr lang="en-IN" dirty="0">
                <a:latin typeface="Sans Serif "/>
              </a:rPr>
              <a:t>— Ephemeral local validator, peer ledger logger, and .</a:t>
            </a:r>
            <a:r>
              <a:rPr lang="en-IN" dirty="0" err="1">
                <a:latin typeface="Sans Serif "/>
              </a:rPr>
              <a:t>gcode</a:t>
            </a:r>
            <a:r>
              <a:rPr lang="en-IN" dirty="0">
                <a:latin typeface="Sans Serif "/>
              </a:rPr>
              <a:t> writer.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dashboard.py </a:t>
            </a:r>
            <a:r>
              <a:rPr lang="en-IN" dirty="0">
                <a:latin typeface="Sans Serif "/>
              </a:rPr>
              <a:t>— Terminal-based monochrome interface rendering dynamic session telemetry logs.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main.py &amp; tests/ </a:t>
            </a:r>
            <a:r>
              <a:rPr lang="en-IN" dirty="0">
                <a:latin typeface="Sans Serif "/>
              </a:rPr>
              <a:t>— End-to-end pipeline execution driver and unit validation test suites.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18B1A-92BB-4E22-D736-FEDF0229B2D3}"/>
              </a:ext>
            </a:extLst>
          </p:cNvPr>
          <p:cNvSpPr txBox="1"/>
          <p:nvPr/>
        </p:nvSpPr>
        <p:spPr>
          <a:xfrm>
            <a:off x="6727405" y="2039724"/>
            <a:ext cx="40321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u="sng" dirty="0">
                <a:latin typeface="Sans Serif "/>
              </a:rPr>
              <a:t>Fragment Affinity Analyzer Specs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83D25-F7B0-8BC7-1EB8-A4863FDECB05}"/>
              </a:ext>
            </a:extLst>
          </p:cNvPr>
          <p:cNvSpPr txBox="1"/>
          <p:nvPr/>
        </p:nvSpPr>
        <p:spPr>
          <a:xfrm>
            <a:off x="7057153" y="2576945"/>
            <a:ext cx="51348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Non-Contiguous Windowing:</a:t>
            </a:r>
            <a:r>
              <a:rPr lang="en-IN" dirty="0">
                <a:latin typeface="Sans Serif "/>
              </a:rPr>
              <a:t> Scans inputs across flexible strides (\(s \in [1..5]\)) to evaluate phased offsets and interleaved fragments.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Shannon Entropy Formulation:</a:t>
            </a:r>
            <a:r>
              <a:rPr lang="en-IN" dirty="0">
                <a:latin typeface="Sans Serif "/>
              </a:rPr>
              <a:t> Computes native entropy \(H(X) = - \sum p(</a:t>
            </a:r>
            <a:r>
              <a:rPr lang="en-IN" dirty="0" err="1">
                <a:latin typeface="Sans Serif "/>
              </a:rPr>
              <a:t>x_i</a:t>
            </a:r>
            <a:r>
              <a:rPr lang="en-IN" dirty="0">
                <a:latin typeface="Sans Serif "/>
              </a:rPr>
              <a:t>) \log_2 p(</a:t>
            </a:r>
            <a:r>
              <a:rPr lang="en-IN" dirty="0" err="1">
                <a:latin typeface="Sans Serif "/>
              </a:rPr>
              <a:t>x_i</a:t>
            </a:r>
            <a:r>
              <a:rPr lang="en-IN" dirty="0">
                <a:latin typeface="Sans Serif "/>
              </a:rPr>
              <a:t>)\) and normalized complexity indexes to calculate Lempel-Ziv data density ratios.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b="1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Sans Serif "/>
              </a:rPr>
              <a:t>Dynamic Matrix Generation:</a:t>
            </a:r>
            <a:r>
              <a:rPr lang="en-IN" dirty="0">
                <a:latin typeface="Sans Serif "/>
              </a:rPr>
              <a:t> Compiles an active \(M \times M\) occurrence array normalized to \([0.0, 1.0]\) with unit diagonals to execute safe, non-executable sequence de-shuffling validations.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B5912-938A-30CA-CC2C-9EB9555E36C4}"/>
              </a:ext>
            </a:extLst>
          </p:cNvPr>
          <p:cNvSpPr txBox="1"/>
          <p:nvPr/>
        </p:nvSpPr>
        <p:spPr>
          <a:xfrm>
            <a:off x="1285002" y="1437774"/>
            <a:ext cx="9621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Sans Serif "/>
              </a:rPr>
              <a:t>COMPILING PIPELINE: 100% OFFLINE | 15/15 UNIT TESTS SEEDED: PASSING | EXTERNAL APIs: ZERO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399577-6372-A898-ECDB-C62CB8A7F6A6}"/>
              </a:ext>
            </a:extLst>
          </p:cNvPr>
          <p:cNvSpPr/>
          <p:nvPr/>
        </p:nvSpPr>
        <p:spPr>
          <a:xfrm>
            <a:off x="1285002" y="1377310"/>
            <a:ext cx="9621992" cy="4630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13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7E8978-C3A2-FB9E-9108-425C5A0031A4}"/>
              </a:ext>
            </a:extLst>
          </p:cNvPr>
          <p:cNvSpPr txBox="1"/>
          <p:nvPr/>
        </p:nvSpPr>
        <p:spPr>
          <a:xfrm>
            <a:off x="233978" y="216817"/>
            <a:ext cx="117240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RUNTIME PHYSICS INTERLOCKS &amp; ACTIVE DECOY HONEY-NETS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29743-F2A5-5DC0-E73C-0CB1268E628B}"/>
              </a:ext>
            </a:extLst>
          </p:cNvPr>
          <p:cNvSpPr txBox="1"/>
          <p:nvPr/>
        </p:nvSpPr>
        <p:spPr>
          <a:xfrm>
            <a:off x="1346878" y="847759"/>
            <a:ext cx="94982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 err="1">
                <a:latin typeface="Sans Serif "/>
              </a:rPr>
              <a:t>Modeling</a:t>
            </a:r>
            <a:r>
              <a:rPr lang="en-IN" sz="2200" dirty="0">
                <a:latin typeface="Sans Serif "/>
              </a:rPr>
              <a:t> Microsecond Nozzle Hydrodynamics to Prevent Strategic Model Fuzzing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03DDA-45D5-7CCA-EBEE-46439BFE8041}"/>
              </a:ext>
            </a:extLst>
          </p:cNvPr>
          <p:cNvSpPr txBox="1"/>
          <p:nvPr/>
        </p:nvSpPr>
        <p:spPr>
          <a:xfrm>
            <a:off x="233978" y="2747809"/>
            <a:ext cx="4225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Fluid Mechanics &amp; Interlock Simulator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08576-1EAC-A694-4B28-0A24CDE26FE6}"/>
              </a:ext>
            </a:extLst>
          </p:cNvPr>
          <p:cNvSpPr txBox="1"/>
          <p:nvPr/>
        </p:nvSpPr>
        <p:spPr>
          <a:xfrm>
            <a:off x="480290" y="3378751"/>
            <a:ext cx="586509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Core Thermal Gradient (\(\Delta T_{grad}\)):</a:t>
            </a:r>
            <a:r>
              <a:rPr lang="en-IN" sz="1500" dirty="0">
                <a:latin typeface="Sans Serif "/>
              </a:rPr>
              <a:t> Calculates local heat dissipation over channel lengths: \(\Delta T_{grad} = \Delta T_{dissipation} / L_{channel} \ [K/\mu m]\).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Flow Reynolds Number (\(Re\)):</a:t>
            </a:r>
            <a:r>
              <a:rPr lang="en-IN" sz="1500" dirty="0">
                <a:latin typeface="Sans Serif "/>
              </a:rPr>
              <a:t> Dynamically scales velocity based on sequence length properties: \(Re = (\rho \</a:t>
            </a:r>
            <a:r>
              <a:rPr lang="en-IN" sz="1500" dirty="0" err="1">
                <a:latin typeface="Sans Serif "/>
              </a:rPr>
              <a:t>cdot</a:t>
            </a:r>
            <a:r>
              <a:rPr lang="en-IN" sz="1500" dirty="0">
                <a:latin typeface="Sans Serif "/>
              </a:rPr>
              <a:t> v \</a:t>
            </a:r>
            <a:r>
              <a:rPr lang="en-IN" sz="1500" dirty="0" err="1">
                <a:latin typeface="Sans Serif "/>
              </a:rPr>
              <a:t>cdot</a:t>
            </a:r>
            <a:r>
              <a:rPr lang="en-IN" sz="1500" dirty="0">
                <a:latin typeface="Sans Serif "/>
              </a:rPr>
              <a:t> D_H) / \mu\).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Kinetic Rearrangement Probability (\(P_{rearrange}\)):</a:t>
            </a:r>
            <a:r>
              <a:rPr lang="en-IN" sz="1500" dirty="0">
                <a:latin typeface="Sans Serif "/>
              </a:rPr>
              <a:t> Computes a sigmoidal phase-shift probability: \(1 / (1 + \exp(-\xi))\). If values cross strict safety gates (\(\Delta T &gt; 0.85\) or \(Re &gt; 3200\)), the local state trips instantly to </a:t>
            </a:r>
            <a:r>
              <a:rPr lang="en-IN" sz="1500" b="1" dirty="0">
                <a:latin typeface="Sans Serif "/>
              </a:rPr>
              <a:t>TRIPPED</a:t>
            </a:r>
            <a:r>
              <a:rPr lang="en-IN" sz="1500" dirty="0">
                <a:latin typeface="Sans Serif "/>
              </a:rPr>
              <a:t>, locking the execution pipeline.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1DA9A-1407-6F15-CADB-DC147C9B01A5}"/>
              </a:ext>
            </a:extLst>
          </p:cNvPr>
          <p:cNvSpPr txBox="1"/>
          <p:nvPr/>
        </p:nvSpPr>
        <p:spPr>
          <a:xfrm>
            <a:off x="6550287" y="2708524"/>
            <a:ext cx="447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Ephemeral Invalidation &amp; Spooler Decoy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953DF-BA4E-8E07-2B86-A6C5E2960524}"/>
              </a:ext>
            </a:extLst>
          </p:cNvPr>
          <p:cNvSpPr txBox="1"/>
          <p:nvPr/>
        </p:nvSpPr>
        <p:spPr>
          <a:xfrm>
            <a:off x="6726146" y="3378751"/>
            <a:ext cx="5231875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Transparent Error Exposure:</a:t>
            </a:r>
            <a:r>
              <a:rPr lang="en-IN" sz="1500" dirty="0">
                <a:latin typeface="Sans Serif "/>
              </a:rPr>
              <a:t> If a threshold gate fails, the system never conceals the trip state, rendering a neutral alert flag to the dashboard screen: SIMULATION COMPLETED -- OUTPUT VALIDATION REQUIRED.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The Invalidation Response:</a:t>
            </a:r>
            <a:r>
              <a:rPr lang="en-IN" sz="1500" dirty="0">
                <a:latin typeface="Sans Serif "/>
              </a:rPr>
              <a:t> Behind the scenes, the engine intercepts the print variables. It generates a safe file named </a:t>
            </a:r>
            <a:r>
              <a:rPr lang="en-IN" sz="1500" b="1" dirty="0" err="1">
                <a:latin typeface="Sans Serif "/>
              </a:rPr>
              <a:t>inert_sugar_blueprint.gcode</a:t>
            </a:r>
            <a:r>
              <a:rPr lang="en-IN" sz="1500" dirty="0">
                <a:latin typeface="Sans Serif "/>
              </a:rPr>
              <a:t> on local disk containing absolute, cold-extrusion commands (\(M104 \ S0\)) to print an inert sucrose tracking placeholder—protecting the system while updating the in-memory mesh log.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A0B20-5A93-4191-C444-4D34E78B2F59}"/>
              </a:ext>
            </a:extLst>
          </p:cNvPr>
          <p:cNvSpPr txBox="1"/>
          <p:nvPr/>
        </p:nvSpPr>
        <p:spPr>
          <a:xfrm>
            <a:off x="2524731" y="1492807"/>
            <a:ext cx="714253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 dirty="0">
                <a:latin typeface="Sans Serif "/>
              </a:rPr>
              <a:t>LATENCY PERFORMANCE</a:t>
            </a:r>
            <a:r>
              <a:rPr lang="en-IN" sz="1500" dirty="0">
                <a:latin typeface="Sans Serif "/>
              </a:rPr>
              <a:t> | Parser &amp; Hash: 0.045 </a:t>
            </a:r>
            <a:r>
              <a:rPr lang="en-IN" sz="1500" dirty="0" err="1">
                <a:latin typeface="Sans Serif "/>
              </a:rPr>
              <a:t>ms</a:t>
            </a:r>
            <a:r>
              <a:rPr lang="en-IN" sz="1500" dirty="0">
                <a:latin typeface="Sans Serif "/>
              </a:rPr>
              <a:t> | Automaton Match: 0.032 </a:t>
            </a:r>
            <a:r>
              <a:rPr lang="en-IN" sz="1500" dirty="0" err="1">
                <a:latin typeface="Sans Serif "/>
              </a:rPr>
              <a:t>ms</a:t>
            </a:r>
            <a:br>
              <a:rPr lang="en-IN" sz="1500" dirty="0">
                <a:latin typeface="Sans Serif "/>
              </a:rPr>
            </a:br>
            <a:r>
              <a:rPr lang="en-IN" sz="1500" dirty="0">
                <a:latin typeface="Sans Serif "/>
              </a:rPr>
              <a:t>Tokenizer Math: 0.051 </a:t>
            </a:r>
            <a:r>
              <a:rPr lang="en-IN" sz="1500" dirty="0" err="1">
                <a:latin typeface="Sans Serif "/>
              </a:rPr>
              <a:t>ms</a:t>
            </a:r>
            <a:r>
              <a:rPr lang="en-IN" sz="1500" dirty="0">
                <a:latin typeface="Sans Serif "/>
              </a:rPr>
              <a:t> | Vector Normalization: 0.016 </a:t>
            </a:r>
            <a:r>
              <a:rPr lang="en-IN" sz="1500" dirty="0" err="1">
                <a:latin typeface="Sans Serif "/>
              </a:rPr>
              <a:t>ms</a:t>
            </a:r>
            <a:r>
              <a:rPr lang="en-IN" sz="1500" dirty="0">
                <a:latin typeface="Sans Serif "/>
              </a:rPr>
              <a:t> | Mesh Handshake: 0.180 </a:t>
            </a:r>
            <a:r>
              <a:rPr lang="en-IN" sz="1500" dirty="0" err="1">
                <a:latin typeface="Sans Serif "/>
              </a:rPr>
              <a:t>ms</a:t>
            </a:r>
            <a:br>
              <a:rPr lang="en-IN" sz="1500" dirty="0">
                <a:latin typeface="Sans Serif "/>
              </a:rPr>
            </a:br>
            <a:r>
              <a:rPr lang="en-IN" sz="1500" b="1" dirty="0">
                <a:latin typeface="Sans Serif "/>
              </a:rPr>
              <a:t>CUMULATIVE ENGINE LATENCY: 0.324 </a:t>
            </a:r>
            <a:r>
              <a:rPr lang="en-IN" sz="1500" b="1" dirty="0" err="1">
                <a:latin typeface="Sans Serif "/>
              </a:rPr>
              <a:t>ms</a:t>
            </a:r>
            <a:endParaRPr lang="en-IN" sz="1500" dirty="0">
              <a:latin typeface="Sans Serif 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6285CC-5482-0C8C-E242-EB914CF52E66}"/>
              </a:ext>
            </a:extLst>
          </p:cNvPr>
          <p:cNvSpPr/>
          <p:nvPr/>
        </p:nvSpPr>
        <p:spPr>
          <a:xfrm>
            <a:off x="2442838" y="1404216"/>
            <a:ext cx="7224425" cy="10341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54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9BDD2-EB9A-4077-E91D-A576FA7FAD94}"/>
              </a:ext>
            </a:extLst>
          </p:cNvPr>
          <p:cNvSpPr txBox="1"/>
          <p:nvPr/>
        </p:nvSpPr>
        <p:spPr>
          <a:xfrm>
            <a:off x="3200720" y="184728"/>
            <a:ext cx="579056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INNOVATION AND CREATIVITY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0A842-3B35-40F7-1108-40763F70FF23}"/>
              </a:ext>
            </a:extLst>
          </p:cNvPr>
          <p:cNvSpPr txBox="1"/>
          <p:nvPr/>
        </p:nvSpPr>
        <p:spPr>
          <a:xfrm>
            <a:off x="970462" y="815670"/>
            <a:ext cx="102510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latin typeface="Sans Serif "/>
              </a:rPr>
              <a:t>Shifting From Internet-Dependent AI Wrappers to Edge-Enclosed Deterministic Pipelines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25920-76D1-EEFB-C5EA-DBD875141843}"/>
              </a:ext>
            </a:extLst>
          </p:cNvPr>
          <p:cNvSpPr txBox="1"/>
          <p:nvPr/>
        </p:nvSpPr>
        <p:spPr>
          <a:xfrm>
            <a:off x="267854" y="1579418"/>
            <a:ext cx="34795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Implemented Core Innovations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D1732-5178-5060-F42C-9BFA56D54DD7}"/>
              </a:ext>
            </a:extLst>
          </p:cNvPr>
          <p:cNvSpPr txBox="1"/>
          <p:nvPr/>
        </p:nvSpPr>
        <p:spPr>
          <a:xfrm>
            <a:off x="418857" y="2152701"/>
            <a:ext cx="471511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100% Offline Edge Ingestion</a:t>
            </a:r>
            <a:r>
              <a:rPr lang="en-IN" sz="1400" dirty="0">
                <a:latin typeface="Sans Serif "/>
              </a:rPr>
              <a:t> — Replaces internet-dependent cloud lookups with a local-first stack computing profiles entirely within volatile RAM partitions.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Physics-Linked High-Density Bridge</a:t>
            </a:r>
            <a:r>
              <a:rPr lang="en-IN" sz="1400" dirty="0">
                <a:latin typeface="Sans Serif "/>
              </a:rPr>
              <a:t> — Integrates a real-time fluidic simulator that derives velocity and phase markers based on input data character length.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Steganography Windowing Sieve</a:t>
            </a:r>
            <a:r>
              <a:rPr lang="en-IN" sz="1400" dirty="0">
                <a:latin typeface="Sans Serif "/>
              </a:rPr>
              <a:t> — Scans non-sequential text offsets and interleaved fragments to mathematically compute structural 3D folding affinities.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Ephemeral Active Honey-Net</a:t>
            </a:r>
            <a:r>
              <a:rPr lang="en-IN" sz="1400" dirty="0">
                <a:latin typeface="Sans Serif "/>
              </a:rPr>
              <a:t> — Spoofs a successful transaction string while silently hijacking backend spooler paths to route output commands to an inert decoy file.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Homomorphic Updating Pipeline</a:t>
            </a:r>
            <a:r>
              <a:rPr lang="en-IN" sz="1400" dirty="0">
                <a:latin typeface="Sans Serif "/>
              </a:rPr>
              <a:t> — Absorbs encrypted mathematical matrix deltas via a one-way isolated broadcast feed, exposing zero secret keys.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7F3CD-7AF1-0A55-19FA-2C86C626E33E}"/>
              </a:ext>
            </a:extLst>
          </p:cNvPr>
          <p:cNvSpPr txBox="1"/>
          <p:nvPr/>
        </p:nvSpPr>
        <p:spPr>
          <a:xfrm>
            <a:off x="6882818" y="1579418"/>
            <a:ext cx="4643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Existing Frameworks vs. Project BIO-SIEVE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EB1038F-C5F1-A689-94FB-A78B9B70D0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895037"/>
                  </p:ext>
                </p:extLst>
              </p:nvPr>
            </p:nvGraphicFramePr>
            <p:xfrm>
              <a:off x="5910952" y="2312389"/>
              <a:ext cx="6012874" cy="39624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006437">
                      <a:extLst>
                        <a:ext uri="{9D8B030D-6E8A-4147-A177-3AD203B41FA5}">
                          <a16:colId xmlns:a16="http://schemas.microsoft.com/office/drawing/2014/main" val="3817755323"/>
                        </a:ext>
                      </a:extLst>
                    </a:gridCol>
                    <a:gridCol w="3006437">
                      <a:extLst>
                        <a:ext uri="{9D8B030D-6E8A-4147-A177-3AD203B41FA5}">
                          <a16:colId xmlns:a16="http://schemas.microsoft.com/office/drawing/2014/main" val="3753830386"/>
                        </a:ext>
                      </a:extLst>
                    </a:gridCol>
                  </a:tblGrid>
                  <a:tr h="21962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>
                              <a:latin typeface="Sans Serif "/>
                            </a:rPr>
                            <a:t>Existing Cloud-Dependent Approach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>
                              <a:latin typeface="Sans Serif "/>
                            </a:rPr>
                            <a:t>BIO-SIEVE Firewall Innovation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3697259"/>
                      </a:ext>
                    </a:extLst>
                  </a:tr>
                  <a:tr h="3843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1. High IP Leak Exposure: Sends proprietary FASTA data to cloud servers.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1. Local-First Processing: Keeps sensitive data within the local environment.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761443"/>
                      </a:ext>
                    </a:extLst>
                  </a:tr>
                  <a:tr h="3843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2. Reactive Keyword Filters: Struggles with mutated patterns and structures.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2. Predictive Physics Modeling: Simulates thermal-fluidic conditions and phase shifts.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5005722"/>
                      </a:ext>
                    </a:extLst>
                  </a:tr>
                  <a:tr h="3843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dirty="0">
                              <a:latin typeface="Sans Serif "/>
                            </a:rPr>
                            <a:t>3. Vulnerable to Fuzzing: Errors and crashes can expose internal </a:t>
                          </a:r>
                          <a:r>
                            <a:rPr lang="en-IN" sz="1400" dirty="0" err="1">
                              <a:latin typeface="Sans Serif "/>
                            </a:rPr>
                            <a:t>behavior</a:t>
                          </a:r>
                          <a:r>
                            <a:rPr lang="en-IN" sz="1400" dirty="0">
                              <a:latin typeface="Sans Serif "/>
                            </a:rPr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3. Proactive Honey-Net Loop: Isolates suspicious activity using inert placeholder outputs.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5410250"/>
                      </a:ext>
                    </a:extLst>
                  </a:tr>
                  <a:tr h="3843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4. Fragile Supply Chain: Depends on remote servers and API availability.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4. Air-Gapped Resilience: Operates independently of external network services.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1296560"/>
                      </a:ext>
                    </a:extLst>
                  </a:tr>
                  <a:tr h="3843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dirty="0">
                              <a:latin typeface="Sans Serif "/>
                            </a:rPr>
                            <a:t>5. Monolithic Architecture: Requires substantial centralized computing resources.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dirty="0">
                              <a:latin typeface="Sans Serif "/>
                            </a:rPr>
                            <a:t>5. Linear-Time Processing: Uses optimized pattern-matching algorithms targeting </a:t>
                          </a:r>
                          <a14:m>
                            <m:oMath xmlns:m="http://schemas.openxmlformats.org/officeDocument/2006/math">
                              <m:r>
                                <a:rPr lang="en-IN" sz="1400">
                                  <a:latin typeface="Sans Serif 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IN" sz="1400">
                                      <a:latin typeface="Sans Serif "/>
                                    </a:rPr>
                                  </m:ctrlPr>
                                </m:dPr>
                                <m:e>
                                  <m:r>
                                    <a:rPr lang="en-IN" sz="1400">
                                      <a:latin typeface="Sans Serif "/>
                                    </a:rPr>
                                    <m:t>𝑁</m:t>
                                  </m:r>
                                </m:e>
                              </m:d>
                            </m:oMath>
                          </a14:m>
                          <a:r>
                            <a:rPr lang="en-IN" sz="1400" dirty="0">
                              <a:latin typeface="Sans Serif "/>
                            </a:rPr>
                            <a:t>complexity.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2920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EB1038F-C5F1-A689-94FB-A78B9B70D0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895037"/>
                  </p:ext>
                </p:extLst>
              </p:nvPr>
            </p:nvGraphicFramePr>
            <p:xfrm>
              <a:off x="5910952" y="2312389"/>
              <a:ext cx="6012874" cy="39624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006437">
                      <a:extLst>
                        <a:ext uri="{9D8B030D-6E8A-4147-A177-3AD203B41FA5}">
                          <a16:colId xmlns:a16="http://schemas.microsoft.com/office/drawing/2014/main" val="3817755323"/>
                        </a:ext>
                      </a:extLst>
                    </a:gridCol>
                    <a:gridCol w="3006437">
                      <a:extLst>
                        <a:ext uri="{9D8B030D-6E8A-4147-A177-3AD203B41FA5}">
                          <a16:colId xmlns:a16="http://schemas.microsoft.com/office/drawing/2014/main" val="3753830386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>
                              <a:latin typeface="Sans Serif "/>
                            </a:rPr>
                            <a:t>Existing Cloud-Dependent Approach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>
                              <a:latin typeface="Sans Serif "/>
                            </a:rPr>
                            <a:t>BIO-SIEVE Firewall Innovation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5369725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1. High IP Leak Exposure: Sends proprietary FASTA data to cloud servers.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1. Local-First Processing: Keeps sensitive data within the local environment.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3761443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2. Reactive Keyword Filters: Struggles with mutated patterns and structures.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2. Predictive Physics Modeling: Simulates thermal-fluidic conditions and phase shifts.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500572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dirty="0">
                              <a:latin typeface="Sans Serif "/>
                            </a:rPr>
                            <a:t>3. Vulnerable to Fuzzing: Errors and crashes can expose internal </a:t>
                          </a:r>
                          <a:r>
                            <a:rPr lang="en-IN" sz="1400" dirty="0" err="1">
                              <a:latin typeface="Sans Serif "/>
                            </a:rPr>
                            <a:t>behavior</a:t>
                          </a:r>
                          <a:r>
                            <a:rPr lang="en-IN" sz="1400" dirty="0">
                              <a:latin typeface="Sans Serif "/>
                            </a:rPr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3. Proactive Honey-Net Loop: Isolates suspicious activity using inert placeholder outputs.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541025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4. Fragile Supply Chain: Depends on remote servers and API availability.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>
                              <a:latin typeface="Sans Serif "/>
                            </a:rPr>
                            <a:t>4. Air-Gapped Resilience: Operates independently of external network services.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3129656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dirty="0">
                              <a:latin typeface="Sans Serif "/>
                            </a:rPr>
                            <a:t>5. Monolithic Architecture: Requires substantial centralized computing resources.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2" t="-443333" r="-405" b="-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2920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089662B8-653D-5000-BFF7-FA8CA7469F50}"/>
              </a:ext>
            </a:extLst>
          </p:cNvPr>
          <p:cNvSpPr/>
          <p:nvPr/>
        </p:nvSpPr>
        <p:spPr>
          <a:xfrm>
            <a:off x="134813" y="1446612"/>
            <a:ext cx="5174369" cy="5065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866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1D7021-89E2-E490-61F7-B14F5BA409E3}"/>
              </a:ext>
            </a:extLst>
          </p:cNvPr>
          <p:cNvSpPr txBox="1"/>
          <p:nvPr/>
        </p:nvSpPr>
        <p:spPr>
          <a:xfrm>
            <a:off x="3945283" y="190500"/>
            <a:ext cx="43014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IMPACT &amp; RELEVANCE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6EEA8-390C-728D-2DD8-3B4F926D4720}"/>
              </a:ext>
            </a:extLst>
          </p:cNvPr>
          <p:cNvSpPr txBox="1"/>
          <p:nvPr/>
        </p:nvSpPr>
        <p:spPr>
          <a:xfrm>
            <a:off x="995276" y="821442"/>
            <a:ext cx="102014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latin typeface="Sans Serif "/>
              </a:rPr>
              <a:t>Resolving the Multi-Billion Dollar Bottleneck in High-Security Automated Manufacturing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3DE07-F951-230A-A5CF-CCC556D9F4D1}"/>
              </a:ext>
            </a:extLst>
          </p:cNvPr>
          <p:cNvSpPr txBox="1"/>
          <p:nvPr/>
        </p:nvSpPr>
        <p:spPr>
          <a:xfrm>
            <a:off x="295275" y="1571625"/>
            <a:ext cx="5444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Core Operational Impact &amp; Relevance Parameters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9D7D3-E74B-F26C-BA91-33E7177D1A07}"/>
              </a:ext>
            </a:extLst>
          </p:cNvPr>
          <p:cNvSpPr txBox="1"/>
          <p:nvPr/>
        </p:nvSpPr>
        <p:spPr>
          <a:xfrm>
            <a:off x="413931" y="2189351"/>
            <a:ext cx="568206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Resolving the IP-vs-Safety Deadlock</a:t>
            </a:r>
            <a:r>
              <a:rPr lang="en-IN" sz="1500" dirty="0">
                <a:latin typeface="Sans Serif "/>
              </a:rPr>
              <a:t> — Enforces real-time compliance screening natively without forcing private labs to upload pre-patent designs to public clouds.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True Perimeter Air-Gap Support</a:t>
            </a:r>
            <a:r>
              <a:rPr lang="en-IN" sz="1500" dirty="0">
                <a:latin typeface="Sans Serif "/>
              </a:rPr>
              <a:t> — Extends enterprise security validation to isolated </a:t>
            </a:r>
            <a:r>
              <a:rPr lang="en-IN" sz="1500" dirty="0" err="1">
                <a:latin typeface="Sans Serif "/>
              </a:rPr>
              <a:t>defense</a:t>
            </a:r>
            <a:r>
              <a:rPr lang="en-IN" sz="1500" dirty="0">
                <a:latin typeface="Sans Serif "/>
              </a:rPr>
              <a:t>, pharmaceutical, and high-containment complexes under total internet restrictions.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Active Model Fuzzing Disruption</a:t>
            </a:r>
            <a:r>
              <a:rPr lang="en-IN" sz="1500" dirty="0">
                <a:latin typeface="Sans Serif "/>
              </a:rPr>
              <a:t> — Neutralizes adversarial brute-force attempts by trapping hostile actors inside a local decoy sandbox, preserving core model integrity.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Zero-Knowledge Local Validation</a:t>
            </a:r>
            <a:r>
              <a:rPr lang="en-IN" sz="1500" dirty="0">
                <a:latin typeface="Sans Serif "/>
              </a:rPr>
              <a:t> — Utilizes localized </a:t>
            </a:r>
            <a:r>
              <a:rPr lang="en-IN" sz="1500" dirty="0" err="1">
                <a:latin typeface="Sans Serif "/>
              </a:rPr>
              <a:t>zk</a:t>
            </a:r>
            <a:r>
              <a:rPr lang="en-IN" sz="1500" dirty="0">
                <a:latin typeface="Sans Serif "/>
              </a:rPr>
              <a:t>-SNARK token proofs to verify safety compliance across an ad-hoc local mesh without logging raw file contents.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5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500" b="1" dirty="0">
                <a:latin typeface="Sans Serif "/>
              </a:rPr>
              <a:t>Zero-Dependency Python Footprint</a:t>
            </a:r>
            <a:r>
              <a:rPr lang="en-IN" sz="1500" dirty="0">
                <a:latin typeface="Sans Serif "/>
              </a:rPr>
              <a:t> — Built entirely within the core standard library, enabling rapid line-rate deployment on low-cost hardware security modules (HSMs).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97297-5E4B-A4A1-745B-32A00239B894}"/>
              </a:ext>
            </a:extLst>
          </p:cNvPr>
          <p:cNvSpPr txBox="1"/>
          <p:nvPr/>
        </p:nvSpPr>
        <p:spPr>
          <a:xfrm>
            <a:off x="7077075" y="1571625"/>
            <a:ext cx="3749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Real-World Target Domain Matrix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78E360B-CC21-EF47-BA73-A2AF8F927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445551"/>
              </p:ext>
            </p:extLst>
          </p:nvPr>
        </p:nvGraphicFramePr>
        <p:xfrm>
          <a:off x="6663143" y="2634615"/>
          <a:ext cx="5114926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7463">
                  <a:extLst>
                    <a:ext uri="{9D8B030D-6E8A-4147-A177-3AD203B41FA5}">
                      <a16:colId xmlns:a16="http://schemas.microsoft.com/office/drawing/2014/main" val="960160978"/>
                    </a:ext>
                  </a:extLst>
                </a:gridCol>
                <a:gridCol w="2557463">
                  <a:extLst>
                    <a:ext uri="{9D8B030D-6E8A-4147-A177-3AD203B41FA5}">
                      <a16:colId xmlns:a16="http://schemas.microsoft.com/office/drawing/2014/main" val="2237194077"/>
                    </a:ext>
                  </a:extLst>
                </a:gridCol>
              </a:tblGrid>
              <a:tr h="52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Sans Serif "/>
                        </a:rPr>
                        <a:t>Deployment Environment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Sans Serif "/>
                        </a:rPr>
                        <a:t>Operational Security 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078141"/>
                  </a:ext>
                </a:extLst>
              </a:tr>
              <a:tr h="736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Sans Serif "/>
                        </a:rPr>
                        <a:t>Commercial Pharmaceutical R&amp;D Campuses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Sans Serif "/>
                        </a:rPr>
                        <a:t>Secures early-stage molecular designs against corporate data exfiltration.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745142"/>
                  </a:ext>
                </a:extLst>
              </a:tr>
              <a:tr h="52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Sans Serif "/>
                        </a:rPr>
                        <a:t>Air-Gapped High-Containment Facilities (BSL-3 / BSL-4)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Sans Serif "/>
                        </a:rPr>
                        <a:t>Enables local screening while preserving network isolation.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418343"/>
                  </a:ext>
                </a:extLst>
              </a:tr>
              <a:tr h="736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Sans Serif "/>
                        </a:rPr>
                        <a:t>Distributed Academic Research Institutions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Sans Serif "/>
                        </a:rPr>
                        <a:t>Provides decentralized safety controls with low computational overhead.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417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39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68A88E-D394-2A3A-E20C-0BB71FA6C655}"/>
              </a:ext>
            </a:extLst>
          </p:cNvPr>
          <p:cNvSpPr txBox="1"/>
          <p:nvPr/>
        </p:nvSpPr>
        <p:spPr>
          <a:xfrm>
            <a:off x="3252529" y="129309"/>
            <a:ext cx="568694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Execution &amp; Technical 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69D59-F3F3-C1F6-630A-E8F0FC85B245}"/>
              </a:ext>
            </a:extLst>
          </p:cNvPr>
          <p:cNvSpPr txBox="1"/>
          <p:nvPr/>
        </p:nvSpPr>
        <p:spPr>
          <a:xfrm>
            <a:off x="1352040" y="760251"/>
            <a:ext cx="94879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latin typeface="Sans Serif "/>
              </a:rPr>
              <a:t>Validation Matrices for an Offline, Deterministic Low-Latency Python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A51FF-85A4-2CCE-78DB-B348E267D046}"/>
              </a:ext>
            </a:extLst>
          </p:cNvPr>
          <p:cNvSpPr txBox="1"/>
          <p:nvPr/>
        </p:nvSpPr>
        <p:spPr>
          <a:xfrm>
            <a:off x="277091" y="1822080"/>
            <a:ext cx="4887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Core Technical Quality &amp; Coding Track Pillars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EF6C6-660C-7C66-19DD-79758C448D4A}"/>
              </a:ext>
            </a:extLst>
          </p:cNvPr>
          <p:cNvSpPr txBox="1"/>
          <p:nvPr/>
        </p:nvSpPr>
        <p:spPr>
          <a:xfrm>
            <a:off x="97983" y="2327486"/>
            <a:ext cx="61237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Pure Standard Library Architecture</a:t>
            </a:r>
            <a:r>
              <a:rPr lang="en-IN" sz="1400" dirty="0">
                <a:latin typeface="Sans Serif "/>
              </a:rPr>
              <a:t> — Implemented entirely using native Python system modules (collections, </a:t>
            </a:r>
            <a:r>
              <a:rPr lang="en-IN" sz="1400" dirty="0" err="1">
                <a:latin typeface="Sans Serif "/>
              </a:rPr>
              <a:t>hashlib</a:t>
            </a:r>
            <a:r>
              <a:rPr lang="en-IN" sz="1400" dirty="0">
                <a:latin typeface="Sans Serif "/>
              </a:rPr>
              <a:t>, math, time). Contains zero external dependency footprints, eliminating supply chain injection vulnerabilities.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Strict O(N) Complexity Scaling</a:t>
            </a:r>
            <a:r>
              <a:rPr lang="en-IN" sz="1400" dirty="0">
                <a:latin typeface="Sans Serif "/>
              </a:rPr>
              <a:t> — The multi-pattern search automaton features a pre-compiled </a:t>
            </a:r>
            <a:r>
              <a:rPr lang="en-IN" sz="1400" dirty="0" err="1">
                <a:latin typeface="Sans Serif "/>
              </a:rPr>
              <a:t>trie</a:t>
            </a:r>
            <a:r>
              <a:rPr lang="en-IN" sz="1400" dirty="0">
                <a:latin typeface="Sans Serif "/>
              </a:rPr>
              <a:t> with functional failure links built via breadth-first search queues, traversing character arrays in strict linear time.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In-Memory Volatile State Control</a:t>
            </a:r>
            <a:r>
              <a:rPr lang="en-IN" sz="1400" dirty="0">
                <a:latin typeface="Sans Serif "/>
              </a:rPr>
              <a:t> — Maintains a zero-disk footprint layout for tracking logs during evaluation phases. State entries are cached exclusively within isolated, transient memory maps inside </a:t>
            </a:r>
            <a:r>
              <a:rPr lang="en-IN" sz="1400" dirty="0" err="1">
                <a:latin typeface="Sans Serif "/>
              </a:rPr>
              <a:t>st.session_state</a:t>
            </a:r>
            <a:r>
              <a:rPr lang="en-IN" sz="1400" dirty="0">
                <a:latin typeface="Sans Serif "/>
              </a:rPr>
              <a:t>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Dynamic Matrix &amp; Floating-Point Vector Math</a:t>
            </a:r>
            <a:r>
              <a:rPr lang="en-IN" sz="1400" dirty="0">
                <a:latin typeface="Sans Serif "/>
              </a:rPr>
              <a:t> — Computes runtime Shannon entropy values, L₂ Euclidean string magnitudes, and vector cosine similarity coefficients interactively from raw buffers with zero static profiles.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1400" dirty="0">
              <a:latin typeface="Sans Serif 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latin typeface="Sans Serif "/>
              </a:rPr>
              <a:t>Comprehensive Structural Documentation</a:t>
            </a:r>
            <a:r>
              <a:rPr lang="en-IN" sz="1400" dirty="0">
                <a:latin typeface="Sans Serif "/>
              </a:rPr>
              <a:t> — Complete codebase engineered with strict PEP 484 type hints, explicit algorithmic docstrings, structural error-handling blocks, and clear step-by-step installation roadmaps.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05A8AF-D5B8-27DF-7C75-D9650DA895BE}"/>
              </a:ext>
            </a:extLst>
          </p:cNvPr>
          <p:cNvSpPr txBox="1"/>
          <p:nvPr/>
        </p:nvSpPr>
        <p:spPr>
          <a:xfrm>
            <a:off x="6609894" y="1822080"/>
            <a:ext cx="5582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latin typeface="Sans Serif "/>
              </a:rPr>
              <a:t>Automated Test Suite Matrix Log (Terminal output)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C92461-5B72-3770-9CBD-2CFDB10E1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443" y="2770471"/>
            <a:ext cx="5417574" cy="286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85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53E64E-DEE9-712D-8807-DE26E0DDCDDC}"/>
              </a:ext>
            </a:extLst>
          </p:cNvPr>
          <p:cNvSpPr txBox="1"/>
          <p:nvPr/>
        </p:nvSpPr>
        <p:spPr>
          <a:xfrm>
            <a:off x="4245044" y="180975"/>
            <a:ext cx="370191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500" b="1" dirty="0">
                <a:latin typeface="Sans Serif 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EXECUTION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9D149-CDCD-84B8-8B3B-4CAE8F0D5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90" y="2558091"/>
            <a:ext cx="10491019" cy="148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4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1499</Words>
  <Application>Microsoft Office PowerPoint</Application>
  <PresentationFormat>Widescreen</PresentationFormat>
  <Paragraphs>126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Sans Serif 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Sanjeev kumar S</dc:creator>
  <cp:lastModifiedBy>Sanjeev kumar S</cp:lastModifiedBy>
  <cp:revision>1</cp:revision>
  <dcterms:created xsi:type="dcterms:W3CDTF">2026-10-20T14:26:02Z</dcterms:created>
  <dcterms:modified xsi:type="dcterms:W3CDTF">2026-10-20T16:07:26Z</dcterms:modified>
</cp:coreProperties>
</file>